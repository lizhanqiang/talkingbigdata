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256" r:id="rId3"/>
    <p:sldId id="257" r:id="rId4"/>
    <p:sldId id="264" r:id="rId5"/>
    <p:sldId id="258" r:id="rId6"/>
    <p:sldId id="259" r:id="rId7"/>
    <p:sldId id="260" r:id="rId9"/>
    <p:sldId id="261" r:id="rId10"/>
    <p:sldId id="262" r:id="rId11"/>
    <p:sldId id="263" r:id="rId1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B9B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https://www.zhihu.com/question/22177404</a:t>
            </a:r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tags" Target="../tags/tag3.xml"/><Relationship Id="rId4" Type="http://schemas.openxmlformats.org/officeDocument/2006/relationships/tags" Target="../tags/tag2.xml"/><Relationship Id="rId3" Type="http://schemas.openxmlformats.org/officeDocument/2006/relationships/tags" Target="../tags/tag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6.xml"/><Relationship Id="rId3" Type="http://schemas.openxmlformats.org/officeDocument/2006/relationships/tags" Target="../tags/tag5.xml"/><Relationship Id="rId2" Type="http://schemas.openxmlformats.org/officeDocument/2006/relationships/tags" Target="../tags/tag4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流程图: 磁盘 3"/>
          <p:cNvSpPr/>
          <p:nvPr/>
        </p:nvSpPr>
        <p:spPr>
          <a:xfrm>
            <a:off x="8716010" y="833755"/>
            <a:ext cx="1152000" cy="1008000"/>
          </a:xfrm>
          <a:prstGeom prst="flowChartMagneticDisk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zh-CN"/>
              <a:t>keystore</a:t>
            </a:r>
            <a:endParaRPr lang="en-US" altLang="zh-CN"/>
          </a:p>
        </p:txBody>
      </p:sp>
      <p:sp>
        <p:nvSpPr>
          <p:cNvPr id="5" name="矩形 4"/>
          <p:cNvSpPr/>
          <p:nvPr/>
        </p:nvSpPr>
        <p:spPr>
          <a:xfrm>
            <a:off x="6259830" y="833755"/>
            <a:ext cx="1516380" cy="1008000"/>
          </a:xfrm>
          <a:prstGeom prst="rect">
            <a:avLst/>
          </a:prstGeom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zh-CN"/>
              <a:t>KMS</a:t>
            </a:r>
            <a:endParaRPr lang="en-US" altLang="zh-CN"/>
          </a:p>
        </p:txBody>
      </p:sp>
      <p:sp>
        <p:nvSpPr>
          <p:cNvPr id="6" name="矩形 5"/>
          <p:cNvSpPr/>
          <p:nvPr/>
        </p:nvSpPr>
        <p:spPr>
          <a:xfrm>
            <a:off x="3348355" y="2908300"/>
            <a:ext cx="1516380" cy="1008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2225" cmpd="sng">
            <a:noFill/>
            <a:prstDash val="dash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zh-CN"/>
              <a:t>NameNode</a:t>
            </a:r>
            <a:endParaRPr lang="en-US" altLang="zh-CN"/>
          </a:p>
        </p:txBody>
      </p:sp>
      <p:sp>
        <p:nvSpPr>
          <p:cNvPr id="8" name="矩形 7"/>
          <p:cNvSpPr/>
          <p:nvPr/>
        </p:nvSpPr>
        <p:spPr>
          <a:xfrm>
            <a:off x="3348355" y="833755"/>
            <a:ext cx="1516380" cy="1008000"/>
          </a:xfrm>
          <a:prstGeom prst="rect">
            <a:avLst/>
          </a:prstGeom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zh-CN"/>
              <a:t>Client</a:t>
            </a:r>
            <a:endParaRPr lang="en-US" altLang="zh-CN"/>
          </a:p>
        </p:txBody>
      </p:sp>
      <p:sp>
        <p:nvSpPr>
          <p:cNvPr id="12" name="矩形 11"/>
          <p:cNvSpPr/>
          <p:nvPr/>
        </p:nvSpPr>
        <p:spPr>
          <a:xfrm>
            <a:off x="6259830" y="2908300"/>
            <a:ext cx="1516380" cy="1008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2225" cmpd="sng">
            <a:noFill/>
            <a:prstDash val="dash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zh-CN"/>
              <a:t>Data</a:t>
            </a:r>
            <a:r>
              <a:rPr lang="en-US" altLang="zh-CN"/>
              <a:t>Node</a:t>
            </a:r>
            <a:endParaRPr lang="en-US" altLang="zh-CN"/>
          </a:p>
        </p:txBody>
      </p:sp>
      <p:cxnSp>
        <p:nvCxnSpPr>
          <p:cNvPr id="14" name="直接箭头连接符 13"/>
          <p:cNvCxnSpPr/>
          <p:nvPr/>
        </p:nvCxnSpPr>
        <p:spPr>
          <a:xfrm>
            <a:off x="3642995" y="1859915"/>
            <a:ext cx="0" cy="1059815"/>
          </a:xfrm>
          <a:prstGeom prst="straightConnector1">
            <a:avLst/>
          </a:prstGeom>
          <a:ln w="22225" cmpd="sng">
            <a:solidFill>
              <a:schemeClr val="tx1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/>
          <p:cNvCxnSpPr/>
          <p:nvPr/>
        </p:nvCxnSpPr>
        <p:spPr>
          <a:xfrm flipV="1">
            <a:off x="4541520" y="1859915"/>
            <a:ext cx="0" cy="1045845"/>
          </a:xfrm>
          <a:prstGeom prst="straightConnector1">
            <a:avLst/>
          </a:prstGeom>
          <a:ln w="22225" cmpd="sng">
            <a:solidFill>
              <a:schemeClr val="tx1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15"/>
          <p:cNvCxnSpPr>
            <a:stCxn id="5" idx="3"/>
            <a:endCxn id="4" idx="2"/>
          </p:cNvCxnSpPr>
          <p:nvPr/>
        </p:nvCxnSpPr>
        <p:spPr>
          <a:xfrm>
            <a:off x="7776210" y="1337945"/>
            <a:ext cx="939800" cy="0"/>
          </a:xfrm>
          <a:prstGeom prst="straightConnector1">
            <a:avLst/>
          </a:prstGeom>
          <a:ln w="22225" cmpd="sng">
            <a:solidFill>
              <a:schemeClr val="tx1"/>
            </a:solidFill>
            <a:prstDash val="dash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/>
          <p:cNvCxnSpPr/>
          <p:nvPr/>
        </p:nvCxnSpPr>
        <p:spPr>
          <a:xfrm flipV="1">
            <a:off x="4849495" y="1045210"/>
            <a:ext cx="1431925" cy="13970"/>
          </a:xfrm>
          <a:prstGeom prst="straightConnector1">
            <a:avLst/>
          </a:prstGeom>
          <a:ln w="22225" cmpd="sng">
            <a:solidFill>
              <a:schemeClr val="tx1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/>
          <p:cNvCxnSpPr/>
          <p:nvPr/>
        </p:nvCxnSpPr>
        <p:spPr>
          <a:xfrm flipH="1">
            <a:off x="4877435" y="1529715"/>
            <a:ext cx="1361440" cy="6985"/>
          </a:xfrm>
          <a:prstGeom prst="straightConnector1">
            <a:avLst/>
          </a:prstGeom>
          <a:ln w="22225" cmpd="sng">
            <a:solidFill>
              <a:schemeClr val="tx1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18"/>
          <p:cNvCxnSpPr>
            <a:endCxn id="12" idx="0"/>
          </p:cNvCxnSpPr>
          <p:nvPr/>
        </p:nvCxnSpPr>
        <p:spPr>
          <a:xfrm>
            <a:off x="4842510" y="1725930"/>
            <a:ext cx="2175510" cy="1182370"/>
          </a:xfrm>
          <a:prstGeom prst="straightConnector1">
            <a:avLst/>
          </a:prstGeom>
          <a:ln w="22225" cmpd="sng">
            <a:solidFill>
              <a:schemeClr val="tx1"/>
            </a:solidFill>
            <a:prstDash val="dash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 20"/>
          <p:cNvSpPr/>
          <p:nvPr/>
        </p:nvSpPr>
        <p:spPr>
          <a:xfrm>
            <a:off x="3218180" y="2228850"/>
            <a:ext cx="807085" cy="21145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900">
                <a:solidFill>
                  <a:srgbClr val="FF0000"/>
                </a:solidFill>
                <a:latin typeface="+mj-ea"/>
                <a:ea typeface="+mj-ea"/>
              </a:rPr>
              <a:t>1.READ</a:t>
            </a:r>
            <a:endParaRPr lang="en-US" altLang="zh-CN" sz="900">
              <a:solidFill>
                <a:srgbClr val="FF0000"/>
              </a:solidFill>
              <a:latin typeface="+mj-ea"/>
              <a:ea typeface="+mj-ea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4137660" y="2228850"/>
            <a:ext cx="807085" cy="21145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900">
                <a:solidFill>
                  <a:srgbClr val="FF0000"/>
                </a:solidFill>
                <a:latin typeface="+mj-ea"/>
                <a:ea typeface="+mj-ea"/>
              </a:rPr>
              <a:t>2.EDEK</a:t>
            </a:r>
            <a:endParaRPr lang="en-US" altLang="zh-CN" sz="900">
              <a:solidFill>
                <a:srgbClr val="FF0000"/>
              </a:solidFill>
              <a:latin typeface="+mj-ea"/>
              <a:ea typeface="+mj-ea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5274310" y="946785"/>
            <a:ext cx="582930" cy="21145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900">
                <a:solidFill>
                  <a:srgbClr val="FF0000"/>
                </a:solidFill>
                <a:latin typeface="+mj-ea"/>
                <a:ea typeface="+mj-ea"/>
              </a:rPr>
              <a:t>3.EDEK</a:t>
            </a:r>
            <a:endParaRPr lang="en-US" altLang="zh-CN" sz="900">
              <a:solidFill>
                <a:srgbClr val="FF0000"/>
              </a:solidFill>
              <a:latin typeface="+mj-ea"/>
              <a:ea typeface="+mj-ea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5274310" y="1427480"/>
            <a:ext cx="584200" cy="21145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900">
                <a:solidFill>
                  <a:srgbClr val="FF0000"/>
                </a:solidFill>
                <a:latin typeface="+mj-ea"/>
                <a:ea typeface="+mj-ea"/>
              </a:rPr>
              <a:t>4.DEK</a:t>
            </a:r>
            <a:endParaRPr lang="en-US" altLang="zh-CN" sz="900">
              <a:solidFill>
                <a:srgbClr val="FF0000"/>
              </a:solidFill>
              <a:latin typeface="+mj-ea"/>
              <a:ea typeface="+mj-ea"/>
            </a:endParaRPr>
          </a:p>
        </p:txBody>
      </p:sp>
      <p:sp>
        <p:nvSpPr>
          <p:cNvPr id="25" name="矩形 24"/>
          <p:cNvSpPr/>
          <p:nvPr/>
        </p:nvSpPr>
        <p:spPr>
          <a:xfrm rot="1740000">
            <a:off x="5483860" y="2182495"/>
            <a:ext cx="772795" cy="21145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>
                <a:solidFill>
                  <a:srgbClr val="FF0000"/>
                </a:solidFill>
                <a:latin typeface="+mj-ea"/>
                <a:ea typeface="+mj-ea"/>
              </a:rPr>
              <a:t>5.decrypt</a:t>
            </a:r>
            <a:endParaRPr lang="en-US" altLang="zh-CN" sz="1000">
              <a:solidFill>
                <a:srgbClr val="FF0000"/>
              </a:solidFill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cxnSp>
        <p:nvCxnSpPr>
          <p:cNvPr id="19" name="直接箭头连接符 18"/>
          <p:cNvCxnSpPr/>
          <p:nvPr/>
        </p:nvCxnSpPr>
        <p:spPr>
          <a:xfrm>
            <a:off x="1762125" y="2926715"/>
            <a:ext cx="2769235" cy="0"/>
          </a:xfrm>
          <a:prstGeom prst="straightConnector1">
            <a:avLst/>
          </a:prstGeom>
          <a:ln w="19050">
            <a:solidFill>
              <a:schemeClr val="bg2">
                <a:lumMod val="75000"/>
              </a:schemeClr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流程图: 磁盘 1"/>
          <p:cNvSpPr/>
          <p:nvPr/>
        </p:nvSpPr>
        <p:spPr>
          <a:xfrm>
            <a:off x="9460865" y="2505710"/>
            <a:ext cx="1221740" cy="1512000"/>
          </a:xfrm>
          <a:prstGeom prst="flowChartMagneticDisk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>
                <a:solidFill>
                  <a:schemeClr val="tx1"/>
                </a:solidFill>
              </a:rPr>
              <a:t>数据库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" name="矩形 3"/>
          <p:cNvSpPr/>
          <p:nvPr/>
        </p:nvSpPr>
        <p:spPr>
          <a:xfrm>
            <a:off x="4531360" y="2505710"/>
            <a:ext cx="864000" cy="151193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600">
                <a:solidFill>
                  <a:schemeClr val="tx1"/>
                </a:solidFill>
                <a:sym typeface="+mn-ea"/>
              </a:rPr>
              <a:t>动态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脱敏</a:t>
            </a:r>
            <a:endParaRPr lang="zh-CN" altLang="en-US">
              <a:solidFill>
                <a:schemeClr val="tx1"/>
              </a:solidFill>
              <a:sym typeface="+mn-ea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897890" y="2505710"/>
            <a:ext cx="864000" cy="151193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600">
                <a:solidFill>
                  <a:schemeClr val="tx1"/>
                </a:solidFill>
                <a:sym typeface="+mn-ea"/>
              </a:rPr>
              <a:t>客户端</a:t>
            </a:r>
            <a:endParaRPr lang="zh-CN" altLang="en-US" sz="1600">
              <a:solidFill>
                <a:schemeClr val="tx1"/>
              </a:solidFill>
              <a:sym typeface="+mn-ea"/>
            </a:endParaRP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9145" y="717550"/>
            <a:ext cx="3312795" cy="2019300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7225" y="2396490"/>
            <a:ext cx="2438400" cy="259080"/>
          </a:xfrm>
          <a:prstGeom prst="rect">
            <a:avLst/>
          </a:prstGeom>
        </p:spPr>
      </p:pic>
      <p:sp>
        <p:nvSpPr>
          <p:cNvPr id="17" name="流程图: 磁盘 16"/>
          <p:cNvSpPr/>
          <p:nvPr/>
        </p:nvSpPr>
        <p:spPr>
          <a:xfrm>
            <a:off x="4462780" y="4730750"/>
            <a:ext cx="1009650" cy="999490"/>
          </a:xfrm>
          <a:prstGeom prst="flowChartMagneticDisk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>
                <a:solidFill>
                  <a:schemeClr val="tx1"/>
                </a:solidFill>
              </a:rPr>
              <a:t>脱敏规则</a:t>
            </a:r>
            <a:endParaRPr lang="zh-CN" altLang="en-US" sz="1600">
              <a:solidFill>
                <a:schemeClr val="tx1"/>
              </a:solidFill>
            </a:endParaRPr>
          </a:p>
        </p:txBody>
      </p:sp>
      <p:graphicFrame>
        <p:nvGraphicFramePr>
          <p:cNvPr id="18" name="表格 17"/>
          <p:cNvGraphicFramePr/>
          <p:nvPr>
            <p:custDataLst>
              <p:tags r:id="rId3"/>
            </p:custDataLst>
          </p:nvPr>
        </p:nvGraphicFramePr>
        <p:xfrm>
          <a:off x="2095500" y="3704145"/>
          <a:ext cx="2176145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2800"/>
                <a:gridCol w="1363345"/>
              </a:tblGrid>
              <a:tr h="3657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方正舒体" panose="02010601030101010101" charset="-122"/>
                          <a:ea typeface="方正舒体" panose="02010601030101010101" charset="-122"/>
                        </a:rPr>
                        <a:t>name</a:t>
                      </a:r>
                      <a:endParaRPr lang="en-US" altLang="zh-CN">
                        <a:latin typeface="方正舒体" panose="02010601030101010101" charset="-122"/>
                        <a:ea typeface="方正舒体" panose="02010601030101010101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方正舒体" panose="02010601030101010101" charset="-122"/>
                          <a:ea typeface="方正舒体" panose="02010601030101010101" charset="-122"/>
                        </a:rPr>
                        <a:t>phone</a:t>
                      </a:r>
                      <a:endParaRPr lang="en-US" altLang="zh-CN">
                        <a:latin typeface="方正舒体" panose="02010601030101010101" charset="-122"/>
                        <a:ea typeface="方正舒体" panose="02010601030101010101" charset="-122"/>
                      </a:endParaRPr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>
                          <a:latin typeface="方正舒体" panose="02010601030101010101" charset="-122"/>
                          <a:ea typeface="方正舒体" panose="02010601030101010101" charset="-122"/>
                          <a:cs typeface="方正舒体" panose="02010601030101010101" charset="-122"/>
                        </a:rPr>
                        <a:t>邓</a:t>
                      </a:r>
                      <a:r>
                        <a:rPr lang="en-US" altLang="zh-CN">
                          <a:latin typeface="方正舒体" panose="02010601030101010101" charset="-122"/>
                          <a:ea typeface="方正舒体" panose="02010601030101010101" charset="-122"/>
                          <a:cs typeface="方正舒体" panose="02010601030101010101" charset="-122"/>
                        </a:rPr>
                        <a:t>**</a:t>
                      </a:r>
                      <a:endParaRPr lang="en-US" altLang="zh-CN">
                        <a:latin typeface="方正舒体" panose="02010601030101010101" charset="-122"/>
                        <a:ea typeface="方正舒体" panose="02010601030101010101" charset="-122"/>
                        <a:cs typeface="方正舒体" panose="02010601030101010101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latin typeface="方正舒体" panose="02010601030101010101" charset="-122"/>
                          <a:ea typeface="方正舒体" panose="02010601030101010101" charset="-122"/>
                        </a:rPr>
                        <a:t>131*****268</a:t>
                      </a:r>
                      <a:endParaRPr lang="en-US" altLang="zh-CN">
                        <a:latin typeface="方正舒体" panose="02010601030101010101" charset="-122"/>
                        <a:ea typeface="方正舒体" panose="02010601030101010101" charset="-122"/>
                      </a:endParaRPr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>
                          <a:latin typeface="方正舒体" panose="02010601030101010101" charset="-122"/>
                          <a:ea typeface="方正舒体" panose="02010601030101010101" charset="-122"/>
                          <a:cs typeface="方正舒体" panose="02010601030101010101" charset="-122"/>
                        </a:rPr>
                        <a:t>孙</a:t>
                      </a:r>
                      <a:r>
                        <a:rPr lang="en-US" altLang="zh-CN">
                          <a:latin typeface="方正舒体" panose="02010601030101010101" charset="-122"/>
                          <a:ea typeface="方正舒体" panose="02010601030101010101" charset="-122"/>
                          <a:cs typeface="方正舒体" panose="02010601030101010101" charset="-122"/>
                        </a:rPr>
                        <a:t>**</a:t>
                      </a:r>
                      <a:endParaRPr lang="en-US" altLang="zh-CN">
                        <a:latin typeface="方正舒体" panose="02010601030101010101" charset="-122"/>
                        <a:ea typeface="方正舒体" panose="02010601030101010101" charset="-122"/>
                        <a:cs typeface="方正舒体" panose="02010601030101010101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latin typeface="方正舒体" panose="02010601030101010101" charset="-122"/>
                          <a:ea typeface="方正舒体" panose="02010601030101010101" charset="-122"/>
                        </a:rPr>
                        <a:t>155*****326</a:t>
                      </a:r>
                      <a:endParaRPr lang="en-US" altLang="zh-CN">
                        <a:latin typeface="方正舒体" panose="02010601030101010101" charset="-122"/>
                        <a:ea typeface="方正舒体" panose="02010601030101010101" charset="-122"/>
                      </a:endParaRPr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20" name="直接箭头连接符 19"/>
          <p:cNvCxnSpPr>
            <a:stCxn id="4" idx="2"/>
            <a:endCxn id="17" idx="1"/>
          </p:cNvCxnSpPr>
          <p:nvPr/>
        </p:nvCxnSpPr>
        <p:spPr>
          <a:xfrm>
            <a:off x="4963795" y="4017645"/>
            <a:ext cx="3810" cy="713105"/>
          </a:xfrm>
          <a:prstGeom prst="straightConnector1">
            <a:avLst/>
          </a:prstGeom>
          <a:ln w="19050">
            <a:solidFill>
              <a:schemeClr val="bg2">
                <a:lumMod val="75000"/>
              </a:schemeClr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/>
          <p:cNvCxnSpPr/>
          <p:nvPr/>
        </p:nvCxnSpPr>
        <p:spPr>
          <a:xfrm>
            <a:off x="5395595" y="2926715"/>
            <a:ext cx="4065270" cy="0"/>
          </a:xfrm>
          <a:prstGeom prst="straightConnector1">
            <a:avLst/>
          </a:prstGeom>
          <a:ln w="19050">
            <a:solidFill>
              <a:schemeClr val="bg2">
                <a:lumMod val="75000"/>
              </a:schemeClr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椭圆 21"/>
          <p:cNvSpPr/>
          <p:nvPr/>
        </p:nvSpPr>
        <p:spPr>
          <a:xfrm>
            <a:off x="2729865" y="2653030"/>
            <a:ext cx="210820" cy="22479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400">
                <a:solidFill>
                  <a:schemeClr val="tx1"/>
                </a:solidFill>
              </a:rPr>
              <a:t>1</a:t>
            </a:r>
            <a:endParaRPr lang="en-US" altLang="zh-CN" sz="1400">
              <a:solidFill>
                <a:schemeClr val="tx1"/>
              </a:solidFill>
            </a:endParaRPr>
          </a:p>
        </p:txBody>
      </p:sp>
      <p:sp>
        <p:nvSpPr>
          <p:cNvPr id="23" name="椭圆 22"/>
          <p:cNvSpPr/>
          <p:nvPr/>
        </p:nvSpPr>
        <p:spPr>
          <a:xfrm>
            <a:off x="4709795" y="4210050"/>
            <a:ext cx="210820" cy="22479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400">
                <a:solidFill>
                  <a:schemeClr val="tx1"/>
                </a:solidFill>
              </a:rPr>
              <a:t>2</a:t>
            </a:r>
            <a:endParaRPr lang="en-US" altLang="zh-CN" sz="1400">
              <a:solidFill>
                <a:schemeClr val="tx1"/>
              </a:solidFill>
            </a:endParaRPr>
          </a:p>
        </p:txBody>
      </p:sp>
      <p:sp>
        <p:nvSpPr>
          <p:cNvPr id="24" name="椭圆 23"/>
          <p:cNvSpPr/>
          <p:nvPr/>
        </p:nvSpPr>
        <p:spPr>
          <a:xfrm>
            <a:off x="7103745" y="2653030"/>
            <a:ext cx="210820" cy="22479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400">
                <a:solidFill>
                  <a:schemeClr val="tx1"/>
                </a:solidFill>
              </a:rPr>
              <a:t>3</a:t>
            </a:r>
            <a:endParaRPr lang="en-US" altLang="zh-CN" sz="1400">
              <a:solidFill>
                <a:schemeClr val="tx1"/>
              </a:solidFill>
            </a:endParaRPr>
          </a:p>
        </p:txBody>
      </p:sp>
      <p:graphicFrame>
        <p:nvGraphicFramePr>
          <p:cNvPr id="27" name="表格 26"/>
          <p:cNvGraphicFramePr/>
          <p:nvPr>
            <p:custDataLst>
              <p:tags r:id="rId4"/>
            </p:custDataLst>
          </p:nvPr>
        </p:nvGraphicFramePr>
        <p:xfrm>
          <a:off x="9129034" y="4236181"/>
          <a:ext cx="2994025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8015"/>
                <a:gridCol w="883285"/>
                <a:gridCol w="1482725"/>
              </a:tblGrid>
              <a:tr h="3657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  <a:latin typeface="方正舒体" panose="02010601030101010101" charset="-122"/>
                          <a:ea typeface="方正舒体" panose="02010601030101010101" charset="-122"/>
                        </a:rPr>
                        <a:t>id</a:t>
                      </a:r>
                      <a:endParaRPr lang="en-US" altLang="zh-CN">
                        <a:solidFill>
                          <a:schemeClr val="tx1"/>
                        </a:solidFill>
                        <a:latin typeface="方正舒体" panose="02010601030101010101" charset="-122"/>
                        <a:ea typeface="方正舒体" panose="02010601030101010101" charset="-122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  <a:latin typeface="方正舒体" panose="02010601030101010101" charset="-122"/>
                          <a:ea typeface="方正舒体" panose="02010601030101010101" charset="-122"/>
                        </a:rPr>
                        <a:t>name</a:t>
                      </a:r>
                      <a:endParaRPr lang="en-US" altLang="zh-CN">
                        <a:solidFill>
                          <a:schemeClr val="tx1"/>
                        </a:solidFill>
                        <a:latin typeface="方正舒体" panose="02010601030101010101" charset="-122"/>
                        <a:ea typeface="方正舒体" panose="02010601030101010101" charset="-122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  <a:latin typeface="方正舒体" panose="02010601030101010101" charset="-122"/>
                          <a:ea typeface="方正舒体" panose="02010601030101010101" charset="-122"/>
                        </a:rPr>
                        <a:t>phone</a:t>
                      </a:r>
                      <a:endParaRPr lang="en-US" altLang="zh-CN">
                        <a:solidFill>
                          <a:schemeClr val="tx1"/>
                        </a:solidFill>
                        <a:latin typeface="方正舒体" panose="02010601030101010101" charset="-122"/>
                        <a:ea typeface="方正舒体" panose="02010601030101010101" charset="-122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gradFill>
                            <a:gsLst>
                              <a:gs pos="0">
                                <a:srgbClr val="14CD68"/>
                              </a:gs>
                              <a:gs pos="100000">
                                <a:srgbClr val="0B6E38"/>
                              </a:gs>
                            </a:gsLst>
                            <a:lin scaled="0"/>
                          </a:gradFill>
                          <a:latin typeface="方正舒体" panose="02010601030101010101" charset="-122"/>
                          <a:ea typeface="方正舒体" panose="02010601030101010101" charset="-122"/>
                        </a:rPr>
                        <a:t>101</a:t>
                      </a:r>
                      <a:endParaRPr lang="en-US" altLang="zh-CN">
                        <a:gradFill>
                          <a:gsLst>
                            <a:gs pos="0">
                              <a:srgbClr val="14CD68"/>
                            </a:gs>
                            <a:gs pos="100000">
                              <a:srgbClr val="0B6E38"/>
                            </a:gs>
                          </a:gsLst>
                          <a:lin scaled="0"/>
                        </a:gradFill>
                        <a:latin typeface="方正舒体" panose="02010601030101010101" charset="-122"/>
                        <a:ea typeface="方正舒体" panose="02010601030101010101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>
                          <a:gradFill>
                            <a:gsLst>
                              <a:gs pos="0">
                                <a:srgbClr val="14CD68"/>
                              </a:gs>
                              <a:gs pos="100000">
                                <a:srgbClr val="0B6E38"/>
                              </a:gs>
                            </a:gsLst>
                            <a:lin scaled="0"/>
                          </a:gradFill>
                          <a:latin typeface="方正舒体" panose="02010601030101010101" charset="-122"/>
                          <a:ea typeface="方正舒体" panose="02010601030101010101" charset="-122"/>
                        </a:rPr>
                        <a:t>邓紫棋</a:t>
                      </a:r>
                      <a:endParaRPr lang="zh-CN" altLang="en-US">
                        <a:gradFill>
                          <a:gsLst>
                            <a:gs pos="0">
                              <a:srgbClr val="14CD68"/>
                            </a:gs>
                            <a:gs pos="100000">
                              <a:srgbClr val="0B6E38"/>
                            </a:gs>
                          </a:gsLst>
                          <a:lin scaled="0"/>
                        </a:gradFill>
                        <a:latin typeface="方正舒体" panose="02010601030101010101" charset="-122"/>
                        <a:ea typeface="方正舒体" panose="02010601030101010101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gradFill>
                            <a:gsLst>
                              <a:gs pos="0">
                                <a:srgbClr val="14CD68"/>
                              </a:gs>
                              <a:gs pos="100000">
                                <a:srgbClr val="0B6E38"/>
                              </a:gs>
                            </a:gsLst>
                            <a:lin scaled="0"/>
                          </a:gradFill>
                          <a:latin typeface="方正舒体" panose="02010601030101010101" charset="-122"/>
                          <a:ea typeface="方正舒体" panose="02010601030101010101" charset="-122"/>
                        </a:rPr>
                        <a:t>13191285268</a:t>
                      </a:r>
                      <a:endParaRPr lang="en-US" altLang="zh-CN">
                        <a:gradFill>
                          <a:gsLst>
                            <a:gs pos="0">
                              <a:srgbClr val="14CD68"/>
                            </a:gs>
                            <a:gs pos="100000">
                              <a:srgbClr val="0B6E38"/>
                            </a:gs>
                          </a:gsLst>
                          <a:lin scaled="0"/>
                        </a:gradFill>
                        <a:latin typeface="方正舒体" panose="02010601030101010101" charset="-122"/>
                        <a:ea typeface="方正舒体" panose="02010601030101010101" charset="-122"/>
                      </a:endParaRPr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gradFill>
                            <a:gsLst>
                              <a:gs pos="0">
                                <a:srgbClr val="14CD68"/>
                              </a:gs>
                              <a:gs pos="100000">
                                <a:srgbClr val="0B6E38"/>
                              </a:gs>
                            </a:gsLst>
                            <a:lin scaled="0"/>
                          </a:gradFill>
                          <a:latin typeface="方正舒体" panose="02010601030101010101" charset="-122"/>
                          <a:ea typeface="方正舒体" panose="02010601030101010101" charset="-122"/>
                        </a:rPr>
                        <a:t>102</a:t>
                      </a:r>
                      <a:endParaRPr lang="en-US" altLang="zh-CN">
                        <a:gradFill>
                          <a:gsLst>
                            <a:gs pos="0">
                              <a:srgbClr val="14CD68"/>
                            </a:gs>
                            <a:gs pos="100000">
                              <a:srgbClr val="0B6E38"/>
                            </a:gs>
                          </a:gsLst>
                          <a:lin scaled="0"/>
                        </a:gradFill>
                        <a:latin typeface="方正舒体" panose="02010601030101010101" charset="-122"/>
                        <a:ea typeface="方正舒体" panose="02010601030101010101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>
                          <a:gradFill>
                            <a:gsLst>
                              <a:gs pos="0">
                                <a:srgbClr val="14CD68"/>
                              </a:gs>
                              <a:gs pos="100000">
                                <a:srgbClr val="0B6E38"/>
                              </a:gs>
                            </a:gsLst>
                            <a:lin scaled="0"/>
                          </a:gradFill>
                          <a:latin typeface="方正舒体" panose="02010601030101010101" charset="-122"/>
                          <a:ea typeface="方正舒体" panose="02010601030101010101" charset="-122"/>
                        </a:rPr>
                        <a:t>孙燕姿</a:t>
                      </a:r>
                      <a:endParaRPr lang="zh-CN" altLang="en-US">
                        <a:gradFill>
                          <a:gsLst>
                            <a:gs pos="0">
                              <a:srgbClr val="14CD68"/>
                            </a:gs>
                            <a:gs pos="100000">
                              <a:srgbClr val="0B6E38"/>
                            </a:gs>
                          </a:gsLst>
                          <a:lin scaled="0"/>
                        </a:gradFill>
                        <a:latin typeface="方正舒体" panose="02010601030101010101" charset="-122"/>
                        <a:ea typeface="方正舒体" panose="02010601030101010101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gradFill>
                            <a:gsLst>
                              <a:gs pos="0">
                                <a:srgbClr val="14CD68"/>
                              </a:gs>
                              <a:gs pos="100000">
                                <a:srgbClr val="0B6E38"/>
                              </a:gs>
                            </a:gsLst>
                            <a:lin scaled="0"/>
                          </a:gradFill>
                          <a:latin typeface="方正舒体" panose="02010601030101010101" charset="-122"/>
                          <a:ea typeface="方正舒体" panose="02010601030101010101" charset="-122"/>
                        </a:rPr>
                        <a:t>15519825326</a:t>
                      </a:r>
                      <a:endParaRPr lang="en-US" altLang="zh-CN">
                        <a:gradFill>
                          <a:gsLst>
                            <a:gs pos="0">
                              <a:srgbClr val="14CD68"/>
                            </a:gs>
                            <a:gs pos="100000">
                              <a:srgbClr val="0B6E38"/>
                            </a:gs>
                          </a:gsLst>
                          <a:lin scaled="0"/>
                        </a:gradFill>
                        <a:latin typeface="方正舒体" panose="02010601030101010101" charset="-122"/>
                        <a:ea typeface="方正舒体" panose="02010601030101010101" charset="-122"/>
                      </a:endParaRP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30" name="表格 29"/>
          <p:cNvGraphicFramePr/>
          <p:nvPr>
            <p:custDataLst>
              <p:tags r:id="rId5"/>
            </p:custDataLst>
          </p:nvPr>
        </p:nvGraphicFramePr>
        <p:xfrm>
          <a:off x="6300470" y="3733355"/>
          <a:ext cx="2176145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2800"/>
                <a:gridCol w="1363345"/>
              </a:tblGrid>
              <a:tr h="3657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方正舒体" panose="02010601030101010101" charset="-122"/>
                          <a:ea typeface="方正舒体" panose="02010601030101010101" charset="-122"/>
                        </a:rPr>
                        <a:t>name</a:t>
                      </a:r>
                      <a:endParaRPr lang="en-US" altLang="zh-CN">
                        <a:latin typeface="方正舒体" panose="02010601030101010101" charset="-122"/>
                        <a:ea typeface="方正舒体" panose="02010601030101010101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方正舒体" panose="02010601030101010101" charset="-122"/>
                          <a:ea typeface="方正舒体" panose="02010601030101010101" charset="-122"/>
                        </a:rPr>
                        <a:t>phone</a:t>
                      </a:r>
                      <a:endParaRPr lang="en-US" altLang="zh-CN">
                        <a:latin typeface="方正舒体" panose="02010601030101010101" charset="-122"/>
                        <a:ea typeface="方正舒体" panose="02010601030101010101" charset="-122"/>
                      </a:endParaRPr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>
                          <a:latin typeface="方正舒体" panose="02010601030101010101" charset="-122"/>
                          <a:ea typeface="方正舒体" panose="02010601030101010101" charset="-122"/>
                          <a:cs typeface="方正舒体" panose="02010601030101010101" charset="-122"/>
                        </a:rPr>
                        <a:t>邓</a:t>
                      </a:r>
                      <a:r>
                        <a:rPr lang="en-US" altLang="zh-CN">
                          <a:latin typeface="方正舒体" panose="02010601030101010101" charset="-122"/>
                          <a:ea typeface="方正舒体" panose="02010601030101010101" charset="-122"/>
                          <a:cs typeface="方正舒体" panose="02010601030101010101" charset="-122"/>
                        </a:rPr>
                        <a:t>**</a:t>
                      </a:r>
                      <a:endParaRPr lang="en-US" altLang="zh-CN">
                        <a:latin typeface="方正舒体" panose="02010601030101010101" charset="-122"/>
                        <a:ea typeface="方正舒体" panose="02010601030101010101" charset="-122"/>
                        <a:cs typeface="方正舒体" panose="02010601030101010101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latin typeface="方正舒体" panose="02010601030101010101" charset="-122"/>
                          <a:ea typeface="方正舒体" panose="02010601030101010101" charset="-122"/>
                        </a:rPr>
                        <a:t>131*****268</a:t>
                      </a:r>
                      <a:endParaRPr lang="en-US" altLang="zh-CN">
                        <a:latin typeface="方正舒体" panose="02010601030101010101" charset="-122"/>
                        <a:ea typeface="方正舒体" panose="02010601030101010101" charset="-122"/>
                      </a:endParaRPr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>
                          <a:latin typeface="方正舒体" panose="02010601030101010101" charset="-122"/>
                          <a:ea typeface="方正舒体" panose="02010601030101010101" charset="-122"/>
                          <a:cs typeface="方正舒体" panose="02010601030101010101" charset="-122"/>
                        </a:rPr>
                        <a:t>孙</a:t>
                      </a:r>
                      <a:r>
                        <a:rPr lang="en-US" altLang="zh-CN">
                          <a:latin typeface="方正舒体" panose="02010601030101010101" charset="-122"/>
                          <a:ea typeface="方正舒体" panose="02010601030101010101" charset="-122"/>
                          <a:cs typeface="方正舒体" panose="02010601030101010101" charset="-122"/>
                        </a:rPr>
                        <a:t>**</a:t>
                      </a:r>
                      <a:endParaRPr lang="en-US" altLang="zh-CN">
                        <a:latin typeface="方正舒体" panose="02010601030101010101" charset="-122"/>
                        <a:ea typeface="方正舒体" panose="02010601030101010101" charset="-122"/>
                        <a:cs typeface="方正舒体" panose="02010601030101010101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latin typeface="方正舒体" panose="02010601030101010101" charset="-122"/>
                          <a:ea typeface="方正舒体" panose="02010601030101010101" charset="-122"/>
                        </a:rPr>
                        <a:t>155*****326</a:t>
                      </a:r>
                      <a:endParaRPr lang="en-US" altLang="zh-CN">
                        <a:latin typeface="方正舒体" panose="02010601030101010101" charset="-122"/>
                        <a:ea typeface="方正舒体" panose="02010601030101010101" charset="-122"/>
                      </a:endParaRPr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31" name="直接箭头连接符 30"/>
          <p:cNvCxnSpPr/>
          <p:nvPr/>
        </p:nvCxnSpPr>
        <p:spPr>
          <a:xfrm flipH="1">
            <a:off x="5417820" y="3526790"/>
            <a:ext cx="4022090" cy="0"/>
          </a:xfrm>
          <a:prstGeom prst="straightConnector1">
            <a:avLst/>
          </a:prstGeom>
          <a:ln w="19050">
            <a:solidFill>
              <a:schemeClr val="bg2">
                <a:lumMod val="75000"/>
              </a:schemeClr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箭头连接符 31"/>
          <p:cNvCxnSpPr/>
          <p:nvPr/>
        </p:nvCxnSpPr>
        <p:spPr>
          <a:xfrm flipH="1">
            <a:off x="1767840" y="3528000"/>
            <a:ext cx="2751455" cy="0"/>
          </a:xfrm>
          <a:prstGeom prst="straightConnector1">
            <a:avLst/>
          </a:prstGeom>
          <a:ln w="19050">
            <a:solidFill>
              <a:schemeClr val="bg2">
                <a:lumMod val="75000"/>
              </a:schemeClr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椭圆 32"/>
          <p:cNvSpPr/>
          <p:nvPr/>
        </p:nvSpPr>
        <p:spPr>
          <a:xfrm>
            <a:off x="7103745" y="3217545"/>
            <a:ext cx="210820" cy="22479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400">
                <a:solidFill>
                  <a:schemeClr val="tx1"/>
                </a:solidFill>
              </a:rPr>
              <a:t>4</a:t>
            </a:r>
            <a:endParaRPr lang="en-US" altLang="zh-CN" sz="1400">
              <a:solidFill>
                <a:schemeClr val="tx1"/>
              </a:solidFill>
            </a:endParaRPr>
          </a:p>
        </p:txBody>
      </p:sp>
      <p:sp>
        <p:nvSpPr>
          <p:cNvPr id="34" name="椭圆 33"/>
          <p:cNvSpPr/>
          <p:nvPr/>
        </p:nvSpPr>
        <p:spPr>
          <a:xfrm>
            <a:off x="2728800" y="3218400"/>
            <a:ext cx="210820" cy="22479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400">
                <a:solidFill>
                  <a:schemeClr val="tx1"/>
                </a:solidFill>
              </a:rPr>
              <a:t>5</a:t>
            </a:r>
            <a:endParaRPr lang="en-US" altLang="zh-CN" sz="140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cxnSp>
        <p:nvCxnSpPr>
          <p:cNvPr id="19" name="直接箭头连接符 18"/>
          <p:cNvCxnSpPr/>
          <p:nvPr/>
        </p:nvCxnSpPr>
        <p:spPr>
          <a:xfrm>
            <a:off x="1762125" y="2926715"/>
            <a:ext cx="2769235" cy="0"/>
          </a:xfrm>
          <a:prstGeom prst="straightConnector1">
            <a:avLst/>
          </a:prstGeom>
          <a:ln w="19050">
            <a:solidFill>
              <a:schemeClr val="bg2">
                <a:lumMod val="75000"/>
              </a:schemeClr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流程图: 磁盘 1"/>
          <p:cNvSpPr/>
          <p:nvPr/>
        </p:nvSpPr>
        <p:spPr>
          <a:xfrm>
            <a:off x="9460865" y="2505710"/>
            <a:ext cx="1221740" cy="1512000"/>
          </a:xfrm>
          <a:prstGeom prst="flowChartMagneticDisk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>
                <a:solidFill>
                  <a:schemeClr val="tx1"/>
                </a:solidFill>
              </a:rPr>
              <a:t>数据库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" name="矩形 3"/>
          <p:cNvSpPr/>
          <p:nvPr/>
        </p:nvSpPr>
        <p:spPr>
          <a:xfrm>
            <a:off x="4531360" y="2505710"/>
            <a:ext cx="864000" cy="151193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600">
                <a:solidFill>
                  <a:schemeClr val="tx1"/>
                </a:solidFill>
                <a:sym typeface="+mn-ea"/>
              </a:rPr>
              <a:t>动态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脱敏</a:t>
            </a:r>
            <a:endParaRPr lang="zh-CN" altLang="en-US">
              <a:solidFill>
                <a:schemeClr val="tx1"/>
              </a:solidFill>
              <a:sym typeface="+mn-ea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897890" y="2505710"/>
            <a:ext cx="864000" cy="151193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600">
                <a:solidFill>
                  <a:schemeClr val="tx1"/>
                </a:solidFill>
                <a:sym typeface="+mn-ea"/>
              </a:rPr>
              <a:t>客户端</a:t>
            </a:r>
            <a:endParaRPr lang="zh-CN" altLang="en-US" sz="1600">
              <a:solidFill>
                <a:schemeClr val="tx1"/>
              </a:solidFill>
              <a:sym typeface="+mn-ea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27225" y="2319655"/>
            <a:ext cx="2438400" cy="259080"/>
          </a:xfrm>
          <a:prstGeom prst="rect">
            <a:avLst/>
          </a:prstGeom>
        </p:spPr>
      </p:pic>
      <p:sp>
        <p:nvSpPr>
          <p:cNvPr id="17" name="流程图: 磁盘 16"/>
          <p:cNvSpPr/>
          <p:nvPr/>
        </p:nvSpPr>
        <p:spPr>
          <a:xfrm>
            <a:off x="4462780" y="4730750"/>
            <a:ext cx="1009650" cy="999490"/>
          </a:xfrm>
          <a:prstGeom prst="flowChartMagneticDisk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>
                <a:solidFill>
                  <a:schemeClr val="tx1"/>
                </a:solidFill>
              </a:rPr>
              <a:t>脱敏规则</a:t>
            </a:r>
            <a:endParaRPr lang="zh-CN" altLang="en-US" sz="1600">
              <a:solidFill>
                <a:schemeClr val="tx1"/>
              </a:solidFill>
            </a:endParaRPr>
          </a:p>
        </p:txBody>
      </p:sp>
      <p:graphicFrame>
        <p:nvGraphicFramePr>
          <p:cNvPr id="18" name="表格 17"/>
          <p:cNvGraphicFramePr/>
          <p:nvPr>
            <p:custDataLst>
              <p:tags r:id="rId2"/>
            </p:custDataLst>
          </p:nvPr>
        </p:nvGraphicFramePr>
        <p:xfrm>
          <a:off x="2095500" y="3704145"/>
          <a:ext cx="2176145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2800"/>
                <a:gridCol w="1363345"/>
              </a:tblGrid>
              <a:tr h="3657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方正舒体" panose="02010601030101010101" charset="-122"/>
                          <a:ea typeface="方正舒体" panose="02010601030101010101" charset="-122"/>
                        </a:rPr>
                        <a:t>name</a:t>
                      </a:r>
                      <a:endParaRPr lang="en-US" altLang="zh-CN">
                        <a:latin typeface="方正舒体" panose="02010601030101010101" charset="-122"/>
                        <a:ea typeface="方正舒体" panose="02010601030101010101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方正舒体" panose="02010601030101010101" charset="-122"/>
                          <a:ea typeface="方正舒体" panose="02010601030101010101" charset="-122"/>
                        </a:rPr>
                        <a:t>phone</a:t>
                      </a:r>
                      <a:endParaRPr lang="en-US" altLang="zh-CN">
                        <a:latin typeface="方正舒体" panose="02010601030101010101" charset="-122"/>
                        <a:ea typeface="方正舒体" panose="02010601030101010101" charset="-122"/>
                      </a:endParaRPr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>
                          <a:latin typeface="方正舒体" panose="02010601030101010101" charset="-122"/>
                          <a:ea typeface="方正舒体" panose="02010601030101010101" charset="-122"/>
                          <a:cs typeface="方正舒体" panose="02010601030101010101" charset="-122"/>
                        </a:rPr>
                        <a:t>邓</a:t>
                      </a:r>
                      <a:r>
                        <a:rPr lang="en-US" altLang="zh-CN">
                          <a:latin typeface="方正舒体" panose="02010601030101010101" charset="-122"/>
                          <a:ea typeface="方正舒体" panose="02010601030101010101" charset="-122"/>
                          <a:cs typeface="方正舒体" panose="02010601030101010101" charset="-122"/>
                        </a:rPr>
                        <a:t>**</a:t>
                      </a:r>
                      <a:endParaRPr lang="en-US" altLang="zh-CN">
                        <a:latin typeface="方正舒体" panose="02010601030101010101" charset="-122"/>
                        <a:ea typeface="方正舒体" panose="02010601030101010101" charset="-122"/>
                        <a:cs typeface="方正舒体" panose="02010601030101010101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latin typeface="方正舒体" panose="02010601030101010101" charset="-122"/>
                          <a:ea typeface="方正舒体" panose="02010601030101010101" charset="-122"/>
                        </a:rPr>
                        <a:t>131*****268</a:t>
                      </a:r>
                      <a:endParaRPr lang="en-US" altLang="zh-CN">
                        <a:latin typeface="方正舒体" panose="02010601030101010101" charset="-122"/>
                        <a:ea typeface="方正舒体" panose="02010601030101010101" charset="-122"/>
                      </a:endParaRPr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>
                          <a:latin typeface="方正舒体" panose="02010601030101010101" charset="-122"/>
                          <a:ea typeface="方正舒体" panose="02010601030101010101" charset="-122"/>
                          <a:cs typeface="方正舒体" panose="02010601030101010101" charset="-122"/>
                        </a:rPr>
                        <a:t>孙</a:t>
                      </a:r>
                      <a:r>
                        <a:rPr lang="en-US" altLang="zh-CN">
                          <a:latin typeface="方正舒体" panose="02010601030101010101" charset="-122"/>
                          <a:ea typeface="方正舒体" panose="02010601030101010101" charset="-122"/>
                          <a:cs typeface="方正舒体" panose="02010601030101010101" charset="-122"/>
                        </a:rPr>
                        <a:t>**</a:t>
                      </a:r>
                      <a:endParaRPr lang="en-US" altLang="zh-CN">
                        <a:latin typeface="方正舒体" panose="02010601030101010101" charset="-122"/>
                        <a:ea typeface="方正舒体" panose="02010601030101010101" charset="-122"/>
                        <a:cs typeface="方正舒体" panose="02010601030101010101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latin typeface="方正舒体" panose="02010601030101010101" charset="-122"/>
                          <a:ea typeface="方正舒体" panose="02010601030101010101" charset="-122"/>
                        </a:rPr>
                        <a:t>155*****326</a:t>
                      </a:r>
                      <a:endParaRPr lang="en-US" altLang="zh-CN">
                        <a:latin typeface="方正舒体" panose="02010601030101010101" charset="-122"/>
                        <a:ea typeface="方正舒体" panose="02010601030101010101" charset="-122"/>
                      </a:endParaRPr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20" name="直接箭头连接符 19"/>
          <p:cNvCxnSpPr>
            <a:stCxn id="4" idx="2"/>
            <a:endCxn id="17" idx="1"/>
          </p:cNvCxnSpPr>
          <p:nvPr/>
        </p:nvCxnSpPr>
        <p:spPr>
          <a:xfrm>
            <a:off x="4963795" y="4017645"/>
            <a:ext cx="3810" cy="713105"/>
          </a:xfrm>
          <a:prstGeom prst="straightConnector1">
            <a:avLst/>
          </a:prstGeom>
          <a:ln w="19050">
            <a:solidFill>
              <a:schemeClr val="bg2">
                <a:lumMod val="75000"/>
              </a:schemeClr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/>
          <p:cNvCxnSpPr/>
          <p:nvPr/>
        </p:nvCxnSpPr>
        <p:spPr>
          <a:xfrm>
            <a:off x="5395595" y="2926715"/>
            <a:ext cx="4065270" cy="0"/>
          </a:xfrm>
          <a:prstGeom prst="straightConnector1">
            <a:avLst/>
          </a:prstGeom>
          <a:ln w="19050">
            <a:solidFill>
              <a:schemeClr val="bg2">
                <a:lumMod val="75000"/>
              </a:schemeClr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椭圆 21"/>
          <p:cNvSpPr/>
          <p:nvPr/>
        </p:nvSpPr>
        <p:spPr>
          <a:xfrm>
            <a:off x="2729865" y="2653030"/>
            <a:ext cx="210820" cy="22479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400">
                <a:solidFill>
                  <a:schemeClr val="tx1"/>
                </a:solidFill>
              </a:rPr>
              <a:t>1</a:t>
            </a:r>
            <a:endParaRPr lang="en-US" altLang="zh-CN" sz="1400">
              <a:solidFill>
                <a:schemeClr val="tx1"/>
              </a:solidFill>
            </a:endParaRPr>
          </a:p>
        </p:txBody>
      </p:sp>
      <p:sp>
        <p:nvSpPr>
          <p:cNvPr id="23" name="椭圆 22"/>
          <p:cNvSpPr/>
          <p:nvPr/>
        </p:nvSpPr>
        <p:spPr>
          <a:xfrm>
            <a:off x="4709795" y="4210050"/>
            <a:ext cx="210820" cy="22479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400">
                <a:solidFill>
                  <a:schemeClr val="tx1"/>
                </a:solidFill>
              </a:rPr>
              <a:t>4</a:t>
            </a:r>
            <a:endParaRPr lang="en-US" altLang="zh-CN" sz="1400">
              <a:solidFill>
                <a:schemeClr val="tx1"/>
              </a:solidFill>
            </a:endParaRPr>
          </a:p>
        </p:txBody>
      </p:sp>
      <p:sp>
        <p:nvSpPr>
          <p:cNvPr id="24" name="椭圆 23"/>
          <p:cNvSpPr/>
          <p:nvPr/>
        </p:nvSpPr>
        <p:spPr>
          <a:xfrm>
            <a:off x="7103745" y="2653030"/>
            <a:ext cx="210820" cy="22479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400">
                <a:solidFill>
                  <a:schemeClr val="tx1"/>
                </a:solidFill>
              </a:rPr>
              <a:t>2</a:t>
            </a:r>
            <a:endParaRPr lang="en-US" altLang="zh-CN" sz="1400">
              <a:solidFill>
                <a:schemeClr val="tx1"/>
              </a:solidFill>
            </a:endParaRPr>
          </a:p>
        </p:txBody>
      </p:sp>
      <p:graphicFrame>
        <p:nvGraphicFramePr>
          <p:cNvPr id="27" name="表格 26"/>
          <p:cNvGraphicFramePr/>
          <p:nvPr>
            <p:custDataLst>
              <p:tags r:id="rId3"/>
            </p:custDataLst>
          </p:nvPr>
        </p:nvGraphicFramePr>
        <p:xfrm>
          <a:off x="9129034" y="4236181"/>
          <a:ext cx="2994025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8015"/>
                <a:gridCol w="883285"/>
                <a:gridCol w="1482725"/>
              </a:tblGrid>
              <a:tr h="3657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  <a:latin typeface="方正舒体" panose="02010601030101010101" charset="-122"/>
                          <a:ea typeface="方正舒体" panose="02010601030101010101" charset="-122"/>
                        </a:rPr>
                        <a:t>id</a:t>
                      </a:r>
                      <a:endParaRPr lang="en-US" altLang="zh-CN">
                        <a:solidFill>
                          <a:schemeClr val="tx1"/>
                        </a:solidFill>
                        <a:latin typeface="方正舒体" panose="02010601030101010101" charset="-122"/>
                        <a:ea typeface="方正舒体" panose="02010601030101010101" charset="-122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  <a:latin typeface="方正舒体" panose="02010601030101010101" charset="-122"/>
                          <a:ea typeface="方正舒体" panose="02010601030101010101" charset="-122"/>
                        </a:rPr>
                        <a:t>name</a:t>
                      </a:r>
                      <a:endParaRPr lang="en-US" altLang="zh-CN">
                        <a:solidFill>
                          <a:schemeClr val="tx1"/>
                        </a:solidFill>
                        <a:latin typeface="方正舒体" panose="02010601030101010101" charset="-122"/>
                        <a:ea typeface="方正舒体" panose="02010601030101010101" charset="-122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  <a:latin typeface="方正舒体" panose="02010601030101010101" charset="-122"/>
                          <a:ea typeface="方正舒体" panose="02010601030101010101" charset="-122"/>
                        </a:rPr>
                        <a:t>phone</a:t>
                      </a:r>
                      <a:endParaRPr lang="en-US" altLang="zh-CN">
                        <a:solidFill>
                          <a:schemeClr val="tx1"/>
                        </a:solidFill>
                        <a:latin typeface="方正舒体" panose="02010601030101010101" charset="-122"/>
                        <a:ea typeface="方正舒体" panose="02010601030101010101" charset="-122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gradFill>
                            <a:gsLst>
                              <a:gs pos="0">
                                <a:srgbClr val="14CD68"/>
                              </a:gs>
                              <a:gs pos="100000">
                                <a:srgbClr val="0B6E38"/>
                              </a:gs>
                            </a:gsLst>
                            <a:lin scaled="0"/>
                          </a:gradFill>
                          <a:latin typeface="方正舒体" panose="02010601030101010101" charset="-122"/>
                          <a:ea typeface="方正舒体" panose="02010601030101010101" charset="-122"/>
                        </a:rPr>
                        <a:t>101</a:t>
                      </a:r>
                      <a:endParaRPr lang="en-US" altLang="zh-CN">
                        <a:gradFill>
                          <a:gsLst>
                            <a:gs pos="0">
                              <a:srgbClr val="14CD68"/>
                            </a:gs>
                            <a:gs pos="100000">
                              <a:srgbClr val="0B6E38"/>
                            </a:gs>
                          </a:gsLst>
                          <a:lin scaled="0"/>
                        </a:gradFill>
                        <a:latin typeface="方正舒体" panose="02010601030101010101" charset="-122"/>
                        <a:ea typeface="方正舒体" panose="02010601030101010101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>
                          <a:gradFill>
                            <a:gsLst>
                              <a:gs pos="0">
                                <a:srgbClr val="14CD68"/>
                              </a:gs>
                              <a:gs pos="100000">
                                <a:srgbClr val="0B6E38"/>
                              </a:gs>
                            </a:gsLst>
                            <a:lin scaled="0"/>
                          </a:gradFill>
                          <a:latin typeface="方正舒体" panose="02010601030101010101" charset="-122"/>
                          <a:ea typeface="方正舒体" panose="02010601030101010101" charset="-122"/>
                        </a:rPr>
                        <a:t>邓紫棋</a:t>
                      </a:r>
                      <a:endParaRPr lang="zh-CN" altLang="en-US">
                        <a:gradFill>
                          <a:gsLst>
                            <a:gs pos="0">
                              <a:srgbClr val="14CD68"/>
                            </a:gs>
                            <a:gs pos="100000">
                              <a:srgbClr val="0B6E38"/>
                            </a:gs>
                          </a:gsLst>
                          <a:lin scaled="0"/>
                        </a:gradFill>
                        <a:latin typeface="方正舒体" panose="02010601030101010101" charset="-122"/>
                        <a:ea typeface="方正舒体" panose="02010601030101010101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gradFill>
                            <a:gsLst>
                              <a:gs pos="0">
                                <a:srgbClr val="14CD68"/>
                              </a:gs>
                              <a:gs pos="100000">
                                <a:srgbClr val="0B6E38"/>
                              </a:gs>
                            </a:gsLst>
                            <a:lin scaled="0"/>
                          </a:gradFill>
                          <a:latin typeface="方正舒体" panose="02010601030101010101" charset="-122"/>
                          <a:ea typeface="方正舒体" panose="02010601030101010101" charset="-122"/>
                        </a:rPr>
                        <a:t>13191285268</a:t>
                      </a:r>
                      <a:endParaRPr lang="en-US" altLang="zh-CN">
                        <a:gradFill>
                          <a:gsLst>
                            <a:gs pos="0">
                              <a:srgbClr val="14CD68"/>
                            </a:gs>
                            <a:gs pos="100000">
                              <a:srgbClr val="0B6E38"/>
                            </a:gs>
                          </a:gsLst>
                          <a:lin scaled="0"/>
                        </a:gradFill>
                        <a:latin typeface="方正舒体" panose="02010601030101010101" charset="-122"/>
                        <a:ea typeface="方正舒体" panose="02010601030101010101" charset="-122"/>
                      </a:endParaRPr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gradFill>
                            <a:gsLst>
                              <a:gs pos="0">
                                <a:srgbClr val="14CD68"/>
                              </a:gs>
                              <a:gs pos="100000">
                                <a:srgbClr val="0B6E38"/>
                              </a:gs>
                            </a:gsLst>
                            <a:lin scaled="0"/>
                          </a:gradFill>
                          <a:latin typeface="方正舒体" panose="02010601030101010101" charset="-122"/>
                          <a:ea typeface="方正舒体" panose="02010601030101010101" charset="-122"/>
                        </a:rPr>
                        <a:t>102</a:t>
                      </a:r>
                      <a:endParaRPr lang="en-US" altLang="zh-CN">
                        <a:gradFill>
                          <a:gsLst>
                            <a:gs pos="0">
                              <a:srgbClr val="14CD68"/>
                            </a:gs>
                            <a:gs pos="100000">
                              <a:srgbClr val="0B6E38"/>
                            </a:gs>
                          </a:gsLst>
                          <a:lin scaled="0"/>
                        </a:gradFill>
                        <a:latin typeface="方正舒体" panose="02010601030101010101" charset="-122"/>
                        <a:ea typeface="方正舒体" panose="02010601030101010101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>
                          <a:gradFill>
                            <a:gsLst>
                              <a:gs pos="0">
                                <a:srgbClr val="14CD68"/>
                              </a:gs>
                              <a:gs pos="100000">
                                <a:srgbClr val="0B6E38"/>
                              </a:gs>
                            </a:gsLst>
                            <a:lin scaled="0"/>
                          </a:gradFill>
                          <a:latin typeface="方正舒体" panose="02010601030101010101" charset="-122"/>
                          <a:ea typeface="方正舒体" panose="02010601030101010101" charset="-122"/>
                        </a:rPr>
                        <a:t>孙燕姿</a:t>
                      </a:r>
                      <a:endParaRPr lang="zh-CN" altLang="en-US">
                        <a:gradFill>
                          <a:gsLst>
                            <a:gs pos="0">
                              <a:srgbClr val="14CD68"/>
                            </a:gs>
                            <a:gs pos="100000">
                              <a:srgbClr val="0B6E38"/>
                            </a:gs>
                          </a:gsLst>
                          <a:lin scaled="0"/>
                        </a:gradFill>
                        <a:latin typeface="方正舒体" panose="02010601030101010101" charset="-122"/>
                        <a:ea typeface="方正舒体" panose="02010601030101010101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gradFill>
                            <a:gsLst>
                              <a:gs pos="0">
                                <a:srgbClr val="14CD68"/>
                              </a:gs>
                              <a:gs pos="100000">
                                <a:srgbClr val="0B6E38"/>
                              </a:gs>
                            </a:gsLst>
                            <a:lin scaled="0"/>
                          </a:gradFill>
                          <a:latin typeface="方正舒体" panose="02010601030101010101" charset="-122"/>
                          <a:ea typeface="方正舒体" panose="02010601030101010101" charset="-122"/>
                        </a:rPr>
                        <a:t>15519825326</a:t>
                      </a:r>
                      <a:endParaRPr lang="en-US" altLang="zh-CN">
                        <a:gradFill>
                          <a:gsLst>
                            <a:gs pos="0">
                              <a:srgbClr val="14CD68"/>
                            </a:gs>
                            <a:gs pos="100000">
                              <a:srgbClr val="0B6E38"/>
                            </a:gs>
                          </a:gsLst>
                          <a:lin scaled="0"/>
                        </a:gradFill>
                        <a:latin typeface="方正舒体" panose="02010601030101010101" charset="-122"/>
                        <a:ea typeface="方正舒体" panose="02010601030101010101" charset="-122"/>
                      </a:endParaRPr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31" name="直接箭头连接符 30"/>
          <p:cNvCxnSpPr/>
          <p:nvPr/>
        </p:nvCxnSpPr>
        <p:spPr>
          <a:xfrm flipH="1">
            <a:off x="5417820" y="3526790"/>
            <a:ext cx="4022090" cy="0"/>
          </a:xfrm>
          <a:prstGeom prst="straightConnector1">
            <a:avLst/>
          </a:prstGeom>
          <a:ln w="19050">
            <a:solidFill>
              <a:schemeClr val="bg2">
                <a:lumMod val="75000"/>
              </a:schemeClr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箭头连接符 31"/>
          <p:cNvCxnSpPr/>
          <p:nvPr/>
        </p:nvCxnSpPr>
        <p:spPr>
          <a:xfrm flipH="1">
            <a:off x="1767840" y="3528000"/>
            <a:ext cx="2751455" cy="0"/>
          </a:xfrm>
          <a:prstGeom prst="straightConnector1">
            <a:avLst/>
          </a:prstGeom>
          <a:ln w="19050">
            <a:solidFill>
              <a:schemeClr val="bg2">
                <a:lumMod val="75000"/>
              </a:schemeClr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椭圆 32"/>
          <p:cNvSpPr/>
          <p:nvPr/>
        </p:nvSpPr>
        <p:spPr>
          <a:xfrm>
            <a:off x="7103745" y="3217545"/>
            <a:ext cx="210820" cy="22479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400">
                <a:solidFill>
                  <a:schemeClr val="tx1"/>
                </a:solidFill>
              </a:rPr>
              <a:t>3</a:t>
            </a:r>
            <a:endParaRPr lang="en-US" altLang="zh-CN" sz="1400">
              <a:solidFill>
                <a:schemeClr val="tx1"/>
              </a:solidFill>
            </a:endParaRPr>
          </a:p>
        </p:txBody>
      </p:sp>
      <p:sp>
        <p:nvSpPr>
          <p:cNvPr id="34" name="椭圆 33"/>
          <p:cNvSpPr/>
          <p:nvPr/>
        </p:nvSpPr>
        <p:spPr>
          <a:xfrm>
            <a:off x="2728800" y="3218400"/>
            <a:ext cx="210820" cy="22479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400">
                <a:solidFill>
                  <a:schemeClr val="tx1"/>
                </a:solidFill>
              </a:rPr>
              <a:t>5</a:t>
            </a:r>
            <a:endParaRPr lang="en-US" altLang="zh-CN" sz="1400">
              <a:solidFill>
                <a:schemeClr val="tx1"/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69025" y="2319655"/>
            <a:ext cx="2438400" cy="259080"/>
          </a:xfrm>
          <a:prstGeom prst="rect">
            <a:avLst/>
          </a:prstGeom>
        </p:spPr>
      </p:pic>
      <p:graphicFrame>
        <p:nvGraphicFramePr>
          <p:cNvPr id="8" name="表格 7"/>
          <p:cNvGraphicFramePr/>
          <p:nvPr>
            <p:custDataLst>
              <p:tags r:id="rId4"/>
            </p:custDataLst>
          </p:nvPr>
        </p:nvGraphicFramePr>
        <p:xfrm>
          <a:off x="5964194" y="3647536"/>
          <a:ext cx="2994025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8015"/>
                <a:gridCol w="883285"/>
                <a:gridCol w="1482725"/>
              </a:tblGrid>
              <a:tr h="36576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>
                          <a:latin typeface="方正舒体" panose="02010601030101010101" charset="-122"/>
                          <a:ea typeface="方正舒体" panose="02010601030101010101" charset="-122"/>
                        </a:rPr>
                        <a:t>id</a:t>
                      </a:r>
                      <a:endParaRPr lang="en-US" altLang="zh-CN">
                        <a:latin typeface="方正舒体" panose="02010601030101010101" charset="-122"/>
                        <a:ea typeface="方正舒体" panose="02010601030101010101" charset="-122"/>
                      </a:endParaRPr>
                    </a:p>
                  </a:txBody>
                  <a:tcPr>
                    <a:solidFill>
                      <a:srgbClr val="5B9BD5"/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>
                          <a:latin typeface="方正舒体" panose="02010601030101010101" charset="-122"/>
                          <a:ea typeface="方正舒体" panose="02010601030101010101" charset="-122"/>
                        </a:rPr>
                        <a:t>name</a:t>
                      </a:r>
                      <a:endParaRPr lang="en-US" altLang="zh-CN">
                        <a:latin typeface="方正舒体" panose="02010601030101010101" charset="-122"/>
                        <a:ea typeface="方正舒体" panose="02010601030101010101" charset="-122"/>
                      </a:endParaRPr>
                    </a:p>
                  </a:txBody>
                  <a:tcPr>
                    <a:solidFill>
                      <a:srgbClr val="5B9BD5"/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>
                          <a:latin typeface="方正舒体" panose="02010601030101010101" charset="-122"/>
                          <a:ea typeface="方正舒体" panose="02010601030101010101" charset="-122"/>
                        </a:rPr>
                        <a:t>phone</a:t>
                      </a:r>
                      <a:endParaRPr lang="en-US" altLang="zh-CN">
                        <a:latin typeface="方正舒体" panose="02010601030101010101" charset="-122"/>
                        <a:ea typeface="方正舒体" panose="02010601030101010101" charset="-122"/>
                      </a:endParaRPr>
                    </a:p>
                  </a:txBody>
                  <a:tcPr>
                    <a:solidFill>
                      <a:srgbClr val="5B9BD5"/>
                    </a:solidFill>
                  </a:tcPr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  <a:latin typeface="方正舒体" panose="02010601030101010101" charset="-122"/>
                          <a:ea typeface="方正舒体" panose="02010601030101010101" charset="-122"/>
                        </a:rPr>
                        <a:t>101</a:t>
                      </a:r>
                      <a:endParaRPr lang="en-US" altLang="zh-CN">
                        <a:solidFill>
                          <a:schemeClr val="tx1"/>
                        </a:solidFill>
                        <a:latin typeface="方正舒体" panose="02010601030101010101" charset="-122"/>
                        <a:ea typeface="方正舒体" panose="02010601030101010101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>
                          <a:solidFill>
                            <a:schemeClr val="tx1"/>
                          </a:solidFill>
                          <a:latin typeface="方正舒体" panose="02010601030101010101" charset="-122"/>
                          <a:ea typeface="方正舒体" panose="02010601030101010101" charset="-122"/>
                        </a:rPr>
                        <a:t>邓紫棋</a:t>
                      </a:r>
                      <a:endParaRPr lang="zh-CN" altLang="en-US">
                        <a:solidFill>
                          <a:schemeClr val="tx1"/>
                        </a:solidFill>
                        <a:latin typeface="方正舒体" panose="02010601030101010101" charset="-122"/>
                        <a:ea typeface="方正舒体" panose="02010601030101010101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  <a:latin typeface="方正舒体" panose="02010601030101010101" charset="-122"/>
                          <a:ea typeface="方正舒体" panose="02010601030101010101" charset="-122"/>
                        </a:rPr>
                        <a:t>13191285268</a:t>
                      </a:r>
                      <a:endParaRPr lang="en-US" altLang="zh-CN">
                        <a:solidFill>
                          <a:schemeClr val="tx1"/>
                        </a:solidFill>
                        <a:latin typeface="方正舒体" panose="02010601030101010101" charset="-122"/>
                        <a:ea typeface="方正舒体" panose="02010601030101010101" charset="-122"/>
                      </a:endParaRPr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  <a:latin typeface="方正舒体" panose="02010601030101010101" charset="-122"/>
                          <a:ea typeface="方正舒体" panose="02010601030101010101" charset="-122"/>
                        </a:rPr>
                        <a:t>102</a:t>
                      </a:r>
                      <a:endParaRPr lang="en-US" altLang="zh-CN">
                        <a:solidFill>
                          <a:schemeClr val="tx1"/>
                        </a:solidFill>
                        <a:latin typeface="方正舒体" panose="02010601030101010101" charset="-122"/>
                        <a:ea typeface="方正舒体" panose="02010601030101010101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>
                          <a:solidFill>
                            <a:schemeClr val="tx1"/>
                          </a:solidFill>
                          <a:latin typeface="方正舒体" panose="02010601030101010101" charset="-122"/>
                          <a:ea typeface="方正舒体" panose="02010601030101010101" charset="-122"/>
                        </a:rPr>
                        <a:t>孙燕姿</a:t>
                      </a:r>
                      <a:endParaRPr lang="zh-CN" altLang="en-US">
                        <a:solidFill>
                          <a:schemeClr val="tx1"/>
                        </a:solidFill>
                        <a:latin typeface="方正舒体" panose="02010601030101010101" charset="-122"/>
                        <a:ea typeface="方正舒体" panose="02010601030101010101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  <a:latin typeface="方正舒体" panose="02010601030101010101" charset="-122"/>
                          <a:ea typeface="方正舒体" panose="02010601030101010101" charset="-122"/>
                        </a:rPr>
                        <a:t>15519825326</a:t>
                      </a:r>
                      <a:endParaRPr lang="en-US" altLang="zh-CN">
                        <a:solidFill>
                          <a:schemeClr val="tx1"/>
                        </a:solidFill>
                        <a:latin typeface="方正舒体" panose="02010601030101010101" charset="-122"/>
                        <a:ea typeface="方正舒体" panose="02010601030101010101" charset="-122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流程图: 磁盘 1"/>
          <p:cNvSpPr/>
          <p:nvPr/>
        </p:nvSpPr>
        <p:spPr>
          <a:xfrm>
            <a:off x="2315845" y="2232025"/>
            <a:ext cx="1004570" cy="1301115"/>
          </a:xfrm>
          <a:prstGeom prst="flowChartMagneticDisk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>
                <a:solidFill>
                  <a:schemeClr val="tx1"/>
                </a:solidFill>
              </a:rPr>
              <a:t>数据库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" name="流程图: 磁盘 2"/>
          <p:cNvSpPr/>
          <p:nvPr/>
        </p:nvSpPr>
        <p:spPr>
          <a:xfrm>
            <a:off x="6941185" y="2232025"/>
            <a:ext cx="1066800" cy="1301115"/>
          </a:xfrm>
          <a:prstGeom prst="flowChartMagneticDisk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>
                <a:solidFill>
                  <a:schemeClr val="tx1"/>
                </a:solidFill>
              </a:rPr>
              <a:t>数据库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" name="剪去单角的矩形 4"/>
          <p:cNvSpPr/>
          <p:nvPr/>
        </p:nvSpPr>
        <p:spPr>
          <a:xfrm flipH="1">
            <a:off x="2315845" y="3994150"/>
            <a:ext cx="1004570" cy="1038860"/>
          </a:xfrm>
          <a:prstGeom prst="snip1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600">
                <a:solidFill>
                  <a:schemeClr val="tx1"/>
                </a:solidFill>
                <a:sym typeface="+mn-ea"/>
              </a:rPr>
              <a:t>文件</a:t>
            </a:r>
            <a:endParaRPr lang="zh-CN" altLang="en-US" sz="1600">
              <a:solidFill>
                <a:schemeClr val="tx1"/>
              </a:solidFill>
              <a:sym typeface="+mn-ea"/>
            </a:endParaRPr>
          </a:p>
        </p:txBody>
      </p:sp>
      <p:sp>
        <p:nvSpPr>
          <p:cNvPr id="6" name="剪去单角的矩形 5"/>
          <p:cNvSpPr/>
          <p:nvPr/>
        </p:nvSpPr>
        <p:spPr>
          <a:xfrm flipH="1">
            <a:off x="6941185" y="3994150"/>
            <a:ext cx="1066800" cy="1038860"/>
          </a:xfrm>
          <a:prstGeom prst="snip1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600">
                <a:solidFill>
                  <a:schemeClr val="tx1"/>
                </a:solidFill>
                <a:sym typeface="+mn-ea"/>
              </a:rPr>
              <a:t>文件</a:t>
            </a:r>
            <a:endParaRPr lang="zh-CN" altLang="en-US" sz="1600">
              <a:solidFill>
                <a:schemeClr val="tx1"/>
              </a:solidFill>
              <a:sym typeface="+mn-ea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4702810" y="2982595"/>
            <a:ext cx="1123315" cy="133413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静态脱敏</a:t>
            </a:r>
            <a:endParaRPr lang="zh-CN" altLang="en-US"/>
          </a:p>
        </p:txBody>
      </p:sp>
      <p:cxnSp>
        <p:nvCxnSpPr>
          <p:cNvPr id="8" name="曲线连接符 7"/>
          <p:cNvCxnSpPr>
            <a:stCxn id="2" idx="4"/>
            <a:endCxn id="7" idx="1"/>
          </p:cNvCxnSpPr>
          <p:nvPr/>
        </p:nvCxnSpPr>
        <p:spPr>
          <a:xfrm>
            <a:off x="3320415" y="2882900"/>
            <a:ext cx="1382395" cy="767080"/>
          </a:xfrm>
          <a:prstGeom prst="curvedConnector3">
            <a:avLst>
              <a:gd name="adj1" fmla="val 50023"/>
            </a:avLst>
          </a:prstGeom>
          <a:ln w="19050">
            <a:solidFill>
              <a:schemeClr val="accent2">
                <a:lumMod val="60000"/>
                <a:lumOff val="40000"/>
              </a:schemeClr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曲线连接符 8"/>
          <p:cNvCxnSpPr>
            <a:stCxn id="5" idx="2"/>
            <a:endCxn id="7" idx="1"/>
          </p:cNvCxnSpPr>
          <p:nvPr/>
        </p:nvCxnSpPr>
        <p:spPr>
          <a:xfrm flipV="1">
            <a:off x="3320415" y="3649980"/>
            <a:ext cx="1382395" cy="863600"/>
          </a:xfrm>
          <a:prstGeom prst="curvedConnector3">
            <a:avLst>
              <a:gd name="adj1" fmla="val 50023"/>
            </a:avLst>
          </a:prstGeom>
          <a:ln w="19050">
            <a:solidFill>
              <a:schemeClr val="accent2">
                <a:lumMod val="60000"/>
                <a:lumOff val="40000"/>
              </a:schemeClr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曲线连接符 9"/>
          <p:cNvCxnSpPr>
            <a:stCxn id="7" idx="3"/>
            <a:endCxn id="3" idx="2"/>
          </p:cNvCxnSpPr>
          <p:nvPr/>
        </p:nvCxnSpPr>
        <p:spPr>
          <a:xfrm flipV="1">
            <a:off x="5826125" y="2882900"/>
            <a:ext cx="1115060" cy="767080"/>
          </a:xfrm>
          <a:prstGeom prst="curvedConnector3">
            <a:avLst>
              <a:gd name="adj1" fmla="val 50000"/>
            </a:avLst>
          </a:prstGeom>
          <a:ln w="19050">
            <a:solidFill>
              <a:schemeClr val="accent2">
                <a:lumMod val="60000"/>
                <a:lumOff val="40000"/>
              </a:schemeClr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曲线连接符 10"/>
          <p:cNvCxnSpPr>
            <a:endCxn id="6" idx="0"/>
          </p:cNvCxnSpPr>
          <p:nvPr/>
        </p:nvCxnSpPr>
        <p:spPr>
          <a:xfrm>
            <a:off x="5831840" y="3635375"/>
            <a:ext cx="1109345" cy="878205"/>
          </a:xfrm>
          <a:prstGeom prst="curvedConnector3">
            <a:avLst>
              <a:gd name="adj1" fmla="val 50029"/>
            </a:avLst>
          </a:prstGeom>
          <a:ln w="19050">
            <a:solidFill>
              <a:schemeClr val="accent2">
                <a:lumMod val="60000"/>
                <a:lumOff val="40000"/>
              </a:schemeClr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2167255" y="678180"/>
            <a:ext cx="7988935" cy="5650230"/>
          </a:xfrm>
          <a:prstGeom prst="rect">
            <a:avLst/>
          </a:prstGeom>
          <a:noFill/>
          <a:ln w="190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p>
            <a:pPr algn="ctr" fontAlgn="t"/>
            <a:r>
              <a:rPr lang="en-US" altLang="zh-CN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Kerberos(bigdata.com)</a:t>
            </a:r>
            <a:endParaRPr lang="en-US" altLang="zh-CN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7042785" y="1290955"/>
            <a:ext cx="2861945" cy="475615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p>
            <a:pPr algn="ctr"/>
            <a:r>
              <a:rPr lang="en-US" altLang="zh-CN">
                <a:solidFill>
                  <a:schemeClr val="tx1"/>
                </a:solidFill>
              </a:rPr>
              <a:t>KDC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4" name="矩形 3"/>
          <p:cNvSpPr/>
          <p:nvPr/>
        </p:nvSpPr>
        <p:spPr>
          <a:xfrm>
            <a:off x="7210425" y="2039620"/>
            <a:ext cx="1292225" cy="165163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AS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7210425" y="4107815"/>
            <a:ext cx="1292225" cy="165163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TGS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6" name="流程图: 磁盘 5"/>
          <p:cNvSpPr/>
          <p:nvPr/>
        </p:nvSpPr>
        <p:spPr>
          <a:xfrm>
            <a:off x="8666480" y="3079115"/>
            <a:ext cx="1158240" cy="1370330"/>
          </a:xfrm>
          <a:prstGeom prst="flowChartMagneticDisk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DB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2580640" y="1354455"/>
            <a:ext cx="1292225" cy="165163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Client</a:t>
            </a:r>
            <a:endParaRPr lang="en-US" altLang="zh-CN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TABLE_BEAUTIFY" val="smartTable{0cf211ae-908d-4c3a-9d32-a88b2d61a9e5}"/>
  <p:tag name="TABLE_ENDDRAG_ORIGIN_RECT" val="171*84"/>
  <p:tag name="TABLE_ENDDRAG_RECT" val="142*295*171*84"/>
</p:tagLst>
</file>

<file path=ppt/tags/tag2.xml><?xml version="1.0" encoding="utf-8"?>
<p:tagLst xmlns:p="http://schemas.openxmlformats.org/presentationml/2006/main">
  <p:tag name="KSO_WM_UNIT_TABLE_BEAUTIFY" val="smartTable{fe1271cf-e481-4337-b4ee-2ed1815dbb9c}"/>
  <p:tag name="TABLE_ENDDRAG_ORIGIN_RECT" val="235*86"/>
  <p:tag name="TABLE_ENDDRAG_RECT" val="666*399*235*86"/>
</p:tagLst>
</file>

<file path=ppt/tags/tag3.xml><?xml version="1.0" encoding="utf-8"?>
<p:tagLst xmlns:p="http://schemas.openxmlformats.org/presentationml/2006/main">
  <p:tag name="KSO_WM_UNIT_TABLE_BEAUTIFY" val="smartTable{f8a86f20-33c5-47dd-b34e-ef7bf08f949b}"/>
  <p:tag name="TABLE_ENDDRAG_ORIGIN_RECT" val="171*84"/>
  <p:tag name="TABLE_ENDDRAG_RECT" val="142*295*171*84"/>
</p:tagLst>
</file>

<file path=ppt/tags/tag4.xml><?xml version="1.0" encoding="utf-8"?>
<p:tagLst xmlns:p="http://schemas.openxmlformats.org/presentationml/2006/main">
  <p:tag name="KSO_WM_UNIT_TABLE_BEAUTIFY" val="smartTable{0cf211ae-908d-4c3a-9d32-a88b2d61a9e5}"/>
  <p:tag name="TABLE_ENDDRAG_ORIGIN_RECT" val="171*84"/>
  <p:tag name="TABLE_ENDDRAG_RECT" val="142*295*171*84"/>
</p:tagLst>
</file>

<file path=ppt/tags/tag5.xml><?xml version="1.0" encoding="utf-8"?>
<p:tagLst xmlns:p="http://schemas.openxmlformats.org/presentationml/2006/main">
  <p:tag name="KSO_WM_UNIT_TABLE_BEAUTIFY" val="smartTable{fe1271cf-e481-4337-b4ee-2ed1815dbb9c}"/>
  <p:tag name="TABLE_ENDDRAG_ORIGIN_RECT" val="235*86"/>
  <p:tag name="TABLE_ENDDRAG_RECT" val="666*399*235*86"/>
</p:tagLst>
</file>

<file path=ppt/tags/tag6.xml><?xml version="1.0" encoding="utf-8"?>
<p:tagLst xmlns:p="http://schemas.openxmlformats.org/presentationml/2006/main">
  <p:tag name="KSO_WM_UNIT_TABLE_BEAUTIFY" val="smartTable{6ac65188-5b1a-4c73-84d3-ab5ea686b5fe}"/>
  <p:tag name="TABLE_ENDDRAG_ORIGIN_RECT" val="235*86"/>
  <p:tag name="TABLE_ENDDRAG_RECT" val="666*399*235*86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400</Words>
  <Application>WPS 演示</Application>
  <PresentationFormat>宽屏</PresentationFormat>
  <Paragraphs>168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8" baseType="lpstr">
      <vt:lpstr>Arial</vt:lpstr>
      <vt:lpstr>宋体</vt:lpstr>
      <vt:lpstr>Wingdings</vt:lpstr>
      <vt:lpstr>方正舒体</vt:lpstr>
      <vt:lpstr>Calibri</vt:lpstr>
      <vt:lpstr>微软雅黑</vt:lpstr>
      <vt:lpstr>Arial Unicode MS</vt:lpstr>
      <vt:lpstr>黑体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Administrator</dc:creator>
  <cp:lastModifiedBy>香烟、solo</cp:lastModifiedBy>
  <cp:revision>78</cp:revision>
  <dcterms:created xsi:type="dcterms:W3CDTF">2021-01-28T11:30:00Z</dcterms:created>
  <dcterms:modified xsi:type="dcterms:W3CDTF">2021-02-05T07:42:43Z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2052-11.1.0.10314</vt:lpwstr>
  </property>
  <property fmtid="{D5CDD505-2E9C-101B-9397-08002B2CF9AE}" pid="3" name="KSOSaveFontToCloudKey">
    <vt:lpwstr>424154311_btnclosed</vt:lpwstr>
  </property>
</Properties>
</file>